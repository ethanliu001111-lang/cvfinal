
<file path=[Content_Types].xml><?xml version="1.0" encoding="utf-8"?>
<ns0:Types xmlns:ns0="http://schemas.openxmlformats.org/package/2006/content-types">
  <ns0:Default Extension="fntdata" ContentType="application/x-fontdata"/>
  <ns0:Default Extension="jp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media/media1.mp4" ContentType="video/unknown"/>
  <ns0:Override PartName="/ppt/metadata" ContentType="application/binary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resentation xmlns="http://schemas.openxmlformats.org/presentationml/2006/main" xmlns:ns2="http://schemas.openxmlformats.org/drawingml/2006/main" xmlns:ns3="http://schemas.microsoft.com/office/powerpoint/2012/main" xmlns:ns4="http://customooxmlschemas.google.com/" xmlns:r="http://schemas.openxmlformats.org/officeDocument/2006/relationships" autoCompressPictures="0" embedTrueTypeFonts="1" strictFirstAndLastChars="0" saveSubsetFonts="1">
  <sldMasterIdLst>
    <sldMasterId id="2147483648" r:id="rId4"/>
  </sldMasterIdLst>
  <notesMasterIdLst>
    <notesMasterId r:id="rId5"/>
  </notesMasterIdLst>
  <sldIdLst>
    <sldId id="256" r:id="rId6"/>
    <sldId id="257" r:id="rId7"/>
    <sldId id="258" r:id="rId8"/>
    <sldId id="259" r:id="rId9"/>
    <sldId id="260" r:id="rId10"/>
  </sldIdLst>
  <sldSz cy="5143500" cx="9144000"/>
  <notesSz cx="6858000" cy="9144000"/>
  <embeddedFontLst>
    <embeddedFont>
      <font typeface="Montserrat SemiBold"/>
      <regular r:id="rId11"/>
      <bold r:id="rId12"/>
      <italic r:id="rId13"/>
      <boldItalic r:id="rId14"/>
    </embeddedFont>
    <embeddedFont>
      <font typeface="Montserrat"/>
      <regular r:id="rId15"/>
      <bold r:id="rId16"/>
      <italic r:id="rId17"/>
      <boldItalic r:id="rId18"/>
    </embeddedFont>
    <embeddedFont>
      <font typeface="Frank Ruhl Libre"/>
      <regular r:id="rId19"/>
      <bold r:id="rId20"/>
    </embeddedFont>
  </embeddedFontLst>
  <defaultTextStyle>
    <ns2:defPPr lvl="0" marR="0" rtl="0" algn="l">
      <ns2:lnSpc>
        <ns2:spcPct val="100000"/>
      </ns2:lnSpc>
      <ns2:spcBef>
        <ns2:spcPts val="0"/>
      </ns2:spcBef>
      <ns2:spcAft>
        <ns2:spcPts val="0"/>
      </ns2:spcAft>
    </ns2:defPPr>
    <ns2:lvl1pPr lvl="0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1pPr>
    <ns2:lvl2pPr lvl="1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2pPr>
    <ns2:lvl3pPr lvl="2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3pPr>
    <ns2:lvl4pPr lvl="3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4pPr>
    <ns2:lvl5pPr lvl="4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5pPr>
    <ns2:lvl6pPr lvl="5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6pPr>
    <ns2:lvl7pPr lvl="6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7pPr>
    <ns2:lvl8pPr lvl="7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8pPr>
    <ns2:lvl9pPr lvl="8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9pPr>
  </defaultTextStyle>
  <extLst>
    <ext uri="{EFAFB233-063F-42B5-8137-9DF3F51BA10A}">
      <ns3:sldGuideLst>
        <ns3:guide id="1" orient="horz" pos="1620">
          <ns3:clr>
            <ns2:srgbClr val="747775"/>
          </ns3:clr>
        </ns3:guide>
        <ns3:guide id="2" pos="2880">
          <ns3:clr>
            <ns2:srgbClr val="747775"/>
          </ns3:clr>
        </ns3:guide>
      </ns3:sldGuideLst>
    </ext>
    <ext uri="GoogleSlidesCustomDataVersion2">
      <ns4:slidesCustomData r:id="rId21" roundtripDataSignature="AMtx7mjgSJXgGCfrT8KrtY4LeB3mbr/lkQ=="/>
    </ext>
  </extLst>
</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theme" Target="theme/theme2.xml" /><ns0:Relationship Id="rId2" Type="http://schemas.openxmlformats.org/officeDocument/2006/relationships/viewProps" Target="viewProps.xml" /><ns0:Relationship Id="rId3" Type="http://schemas.openxmlformats.org/officeDocument/2006/relationships/presProps" Target="presProps.xml" /><ns0:Relationship Id="rId4" Type="http://schemas.openxmlformats.org/officeDocument/2006/relationships/slideMaster" Target="slideMasters/slideMaster1.xml" /><ns0:Relationship Id="rId5" Type="http://schemas.openxmlformats.org/officeDocument/2006/relationships/notesMaster" Target="notesMasters/notesMaster1.xml" /><ns0:Relationship Id="rId6" Type="http://schemas.openxmlformats.org/officeDocument/2006/relationships/slide" Target="slides/slide1.xml" /><ns0:Relationship Id="rId7" Type="http://schemas.openxmlformats.org/officeDocument/2006/relationships/slide" Target="slides/slide2.xml" /><ns0:Relationship Id="rId8" Type="http://schemas.openxmlformats.org/officeDocument/2006/relationships/slide" Target="slides/slide3.xml" /><ns0:Relationship Id="rId9" Type="http://schemas.openxmlformats.org/officeDocument/2006/relationships/slide" Target="slides/slide4.xml" /><ns0:Relationship Id="rId10" Type="http://schemas.openxmlformats.org/officeDocument/2006/relationships/slide" Target="slides/slide5.xml" /><ns0:Relationship Id="rId11" Type="http://schemas.openxmlformats.org/officeDocument/2006/relationships/font" Target="fonts/MontserratSemiBold-regular.fntdata" /><ns0:Relationship Id="rId12" Type="http://schemas.openxmlformats.org/officeDocument/2006/relationships/font" Target="fonts/MontserratSemiBold-bold.fntdata" /><ns0:Relationship Id="rId13" Type="http://schemas.openxmlformats.org/officeDocument/2006/relationships/font" Target="fonts/MontserratSemiBold-italic.fntdata" /><ns0:Relationship Id="rId14" Type="http://schemas.openxmlformats.org/officeDocument/2006/relationships/font" Target="fonts/MontserratSemiBold-boldItalic.fntdata" /><ns0:Relationship Id="rId15" Type="http://schemas.openxmlformats.org/officeDocument/2006/relationships/font" Target="fonts/Montserrat-regular.fntdata" /><ns0:Relationship Id="rId16" Type="http://schemas.openxmlformats.org/officeDocument/2006/relationships/font" Target="fonts/Montserrat-bold.fntdata" /><ns0:Relationship Id="rId17" Type="http://schemas.openxmlformats.org/officeDocument/2006/relationships/font" Target="fonts/Montserrat-italic.fntdata" /><ns0:Relationship Id="rId18" Type="http://schemas.openxmlformats.org/officeDocument/2006/relationships/font" Target="fonts/Montserrat-boldItalic.fntdata" /><ns0:Relationship Id="rId19" Type="http://schemas.openxmlformats.org/officeDocument/2006/relationships/font" Target="fonts/FrankRuhlLibre-regular.fntdata" /><ns0:Relationship Id="rId20" Type="http://schemas.openxmlformats.org/officeDocument/2006/relationships/font" Target="fonts/FrankRuhlLibre-bold.fntdata" /><ns0:Relationship Id="rId21" Type="http://customschemas.google.com/relationships/presentationmetadata" Target="metadata" /></ns0: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Wu et al.</a:t>
            </a:r>
            <a:r>
              <a:rPr lang="en">
                <a:solidFill>
                  <a:schemeClr val="dk1"/>
                </a:solidFill>
              </a:rPr>
              <a:t> show that ML can predict how performance scales across GPU configurations. </a:t>
            </a:r>
            <a:r>
              <a:rPr b="1" lang="en">
                <a:solidFill>
                  <a:schemeClr val="dk1"/>
                </a:solidFill>
              </a:rPr>
              <a:t>Zigon et al.</a:t>
            </a:r>
            <a:r>
              <a:rPr lang="en">
                <a:solidFill>
                  <a:schemeClr val="dk1"/>
                </a:solidFill>
              </a:rPr>
              <a:t> use ML to classify kernels from performance counters. </a:t>
            </a:r>
            <a:r>
              <a:rPr b="1" lang="en">
                <a:solidFill>
                  <a:schemeClr val="dk1"/>
                </a:solidFill>
              </a:rPr>
              <a:t>Liu et al.</a:t>
            </a:r>
            <a:r>
              <a:rPr lang="en">
                <a:solidFill>
                  <a:schemeClr val="dk1"/>
                </a:solidFill>
              </a:rPr>
              <a:t> build regression models that identify the most important GPU hardware features. And </a:t>
            </a:r>
            <a:r>
              <a:rPr b="1" lang="en">
                <a:solidFill>
                  <a:schemeClr val="dk1"/>
                </a:solidFill>
              </a:rPr>
              <a:t>Lee et al.</a:t>
            </a:r>
            <a:r>
              <a:rPr lang="en">
                <a:solidFill>
                  <a:schemeClr val="dk1"/>
                </a:solidFill>
              </a:rPr>
              <a:t> introduce NeuSight, which predicts deep-learning kernel performance on </a:t>
            </a:r>
            <a:r>
              <a:rPr i="1" lang="en">
                <a:solidFill>
                  <a:schemeClr val="dk1"/>
                </a:solidFill>
              </a:rPr>
              <a:t>unseen</a:t>
            </a:r>
            <a:r>
              <a:rPr lang="en">
                <a:solidFill>
                  <a:schemeClr val="dk1"/>
                </a:solidFill>
              </a:rPr>
              <a:t> GPUs by modeling fundamental compute and memory behavior.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We noticed that few models jointly capture both kernel-level structure and hardware characteristics.  This lack motivates our project.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Wu et al.</a:t>
            </a:r>
            <a:r>
              <a:rPr lang="en">
                <a:solidFill>
                  <a:schemeClr val="dk1"/>
                </a:solidFill>
              </a:rPr>
              <a:t> show that ML can predict how performance scales across GPU configurations. </a:t>
            </a:r>
            <a:r>
              <a:rPr b="1" lang="en">
                <a:solidFill>
                  <a:schemeClr val="dk1"/>
                </a:solidFill>
              </a:rPr>
              <a:t>Zigon et al.</a:t>
            </a:r>
            <a:r>
              <a:rPr lang="en">
                <a:solidFill>
                  <a:schemeClr val="dk1"/>
                </a:solidFill>
              </a:rPr>
              <a:t> use ML to classify kernels from performance counters. </a:t>
            </a:r>
            <a:r>
              <a:rPr b="1" lang="en">
                <a:solidFill>
                  <a:schemeClr val="dk1"/>
                </a:solidFill>
              </a:rPr>
              <a:t>Liu et al.</a:t>
            </a:r>
            <a:r>
              <a:rPr lang="en">
                <a:solidFill>
                  <a:schemeClr val="dk1"/>
                </a:solidFill>
              </a:rPr>
              <a:t> build regression models that identify the most important GPU hardware features. And </a:t>
            </a:r>
            <a:r>
              <a:rPr b="1" lang="en">
                <a:solidFill>
                  <a:schemeClr val="dk1"/>
                </a:solidFill>
              </a:rPr>
              <a:t>Lee et al.</a:t>
            </a:r>
            <a:r>
              <a:rPr lang="en">
                <a:solidFill>
                  <a:schemeClr val="dk1"/>
                </a:solidFill>
              </a:rPr>
              <a:t> introduce NeuSight, which predicts deep-learning kernel performance on </a:t>
            </a:r>
            <a:r>
              <a:rPr i="1" lang="en">
                <a:solidFill>
                  <a:schemeClr val="dk1"/>
                </a:solidFill>
              </a:rPr>
              <a:t>unseen</a:t>
            </a:r>
            <a:r>
              <a:rPr lang="en">
                <a:solidFill>
                  <a:schemeClr val="dk1"/>
                </a:solidFill>
              </a:rPr>
              <a:t> GPUs by modeling fundamental compute and memory behavior.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We noticed that few models jointly capture both kernel-level structure and hardware characteristics.  This lack motivates our project.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Wu et al.</a:t>
            </a:r>
            <a:r>
              <a:rPr lang="en">
                <a:solidFill>
                  <a:schemeClr val="dk1"/>
                </a:solidFill>
              </a:rPr>
              <a:t> show that ML can predict how performance scales across GPU configurations. </a:t>
            </a:r>
            <a:r>
              <a:rPr b="1" lang="en">
                <a:solidFill>
                  <a:schemeClr val="dk1"/>
                </a:solidFill>
              </a:rPr>
              <a:t>Zigon et al.</a:t>
            </a:r>
            <a:r>
              <a:rPr lang="en">
                <a:solidFill>
                  <a:schemeClr val="dk1"/>
                </a:solidFill>
              </a:rPr>
              <a:t> use ML to classify kernels from performance counters. </a:t>
            </a:r>
            <a:r>
              <a:rPr b="1" lang="en">
                <a:solidFill>
                  <a:schemeClr val="dk1"/>
                </a:solidFill>
              </a:rPr>
              <a:t>Liu et al.</a:t>
            </a:r>
            <a:r>
              <a:rPr lang="en">
                <a:solidFill>
                  <a:schemeClr val="dk1"/>
                </a:solidFill>
              </a:rPr>
              <a:t> build regression models that identify the most important GPU hardware features. And </a:t>
            </a:r>
            <a:r>
              <a:rPr b="1" lang="en">
                <a:solidFill>
                  <a:schemeClr val="dk1"/>
                </a:solidFill>
              </a:rPr>
              <a:t>Lee et al.</a:t>
            </a:r>
            <a:r>
              <a:rPr lang="en">
                <a:solidFill>
                  <a:schemeClr val="dk1"/>
                </a:solidFill>
              </a:rPr>
              <a:t> introduce NeuSight, which predicts deep-learning kernel performance on </a:t>
            </a:r>
            <a:r>
              <a:rPr i="1" lang="en">
                <a:solidFill>
                  <a:schemeClr val="dk1"/>
                </a:solidFill>
              </a:rPr>
              <a:t>unseen</a:t>
            </a:r>
            <a:r>
              <a:rPr lang="en">
                <a:solidFill>
                  <a:schemeClr val="dk1"/>
                </a:solidFill>
              </a:rPr>
              <a:t> GPUs by modeling fundamental compute and memory behavior.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We noticed that few models jointly capture both kernel-level structure and hardware characteristics.  This lack motivates our project.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rgbClr val="220337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7363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8"/>
          <p:cNvSpPr txBox="1"/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72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" type="body"/>
          </p:nvPr>
        </p:nvSpPr>
        <p:spPr>
          <a:xfrm>
            <a:off x="2496200" y="4275729"/>
            <a:ext cx="4151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2" type="subTitle"/>
          </p:nvPr>
        </p:nvSpPr>
        <p:spPr>
          <a:xfrm>
            <a:off x="2496200" y="2791614"/>
            <a:ext cx="41514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solidFill>
                  <a:schemeClr val="accent2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9"/>
          <p:cNvSpPr txBox="1"/>
          <p:nvPr/>
        </p:nvSpPr>
        <p:spPr>
          <a:xfrm>
            <a:off x="4583948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 " id="16" name="Google Shape;1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9"/>
          <p:cNvSpPr txBox="1"/>
          <p:nvPr>
            <p:ph type="title"/>
          </p:nvPr>
        </p:nvSpPr>
        <p:spPr>
          <a:xfrm>
            <a:off x="311700" y="587975"/>
            <a:ext cx="65511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" type="body"/>
          </p:nvPr>
        </p:nvSpPr>
        <p:spPr>
          <a:xfrm>
            <a:off x="311700" y="1448400"/>
            <a:ext cx="6551100" cy="22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19" name="Google Shape;19;p9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1_1_1_1">
    <p:bg>
      <p:bgPr>
        <a:solidFill>
          <a:srgbClr val="220337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0"/>
          <p:cNvPicPr preferRelativeResize="0"/>
          <p:nvPr/>
        </p:nvPicPr>
        <p:blipFill rotWithShape="1">
          <a:blip r:embed="rId2">
            <a:alphaModFix/>
          </a:blip>
          <a:srcRect b="367" l="308" r="328" t="357"/>
          <a:stretch/>
        </p:blipFill>
        <p:spPr>
          <a:xfrm>
            <a:off x="0" y="250"/>
            <a:ext cx="914399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York University logo" id="22" name="Google Shape;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7363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0"/>
          <p:cNvSpPr txBox="1"/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7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" name="Google Shape;24;p10"/>
          <p:cNvSpPr txBox="1"/>
          <p:nvPr>
            <p:ph idx="1" type="body"/>
          </p:nvPr>
        </p:nvSpPr>
        <p:spPr>
          <a:xfrm>
            <a:off x="2496200" y="4275729"/>
            <a:ext cx="4151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5" name="Google Shape;25;p10"/>
          <p:cNvSpPr txBox="1"/>
          <p:nvPr>
            <p:ph idx="2" type="subTitle"/>
          </p:nvPr>
        </p:nvSpPr>
        <p:spPr>
          <a:xfrm>
            <a:off x="2496200" y="2791614"/>
            <a:ext cx="41514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2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1"/>
          <p:cNvSpPr txBox="1"/>
          <p:nvPr>
            <p:ph type="title"/>
          </p:nvPr>
        </p:nvSpPr>
        <p:spPr>
          <a:xfrm>
            <a:off x="1506000" y="1385509"/>
            <a:ext cx="6131700" cy="16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9" name="Google Shape;29;p11"/>
          <p:cNvSpPr txBox="1"/>
          <p:nvPr>
            <p:ph idx="1" type="subTitle"/>
          </p:nvPr>
        </p:nvSpPr>
        <p:spPr>
          <a:xfrm>
            <a:off x="2462575" y="2959018"/>
            <a:ext cx="42186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/>
          <p:nvPr>
            <p:ph type="title"/>
          </p:nvPr>
        </p:nvSpPr>
        <p:spPr>
          <a:xfrm>
            <a:off x="311700" y="587970"/>
            <a:ext cx="4945500" cy="11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" type="body"/>
          </p:nvPr>
        </p:nvSpPr>
        <p:spPr>
          <a:xfrm>
            <a:off x="311700" y="2467949"/>
            <a:ext cx="3999900" cy="18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2"/>
          <p:cNvSpPr txBox="1"/>
          <p:nvPr>
            <p:ph idx="2" type="body"/>
          </p:nvPr>
        </p:nvSpPr>
        <p:spPr>
          <a:xfrm>
            <a:off x="4619925" y="2467949"/>
            <a:ext cx="3999900" cy="18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34" name="Google Shape;3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p12"/>
          <p:cNvSpPr txBox="1"/>
          <p:nvPr>
            <p:ph idx="3" type="subTitle"/>
          </p:nvPr>
        </p:nvSpPr>
        <p:spPr>
          <a:xfrm>
            <a:off x="311700" y="2054620"/>
            <a:ext cx="399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4" type="subTitle"/>
          </p:nvPr>
        </p:nvSpPr>
        <p:spPr>
          <a:xfrm>
            <a:off x="4619925" y="2054620"/>
            <a:ext cx="399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id="38" name="Google Shape;38;p12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/>
          <p:nvPr>
            <p:ph type="title"/>
          </p:nvPr>
        </p:nvSpPr>
        <p:spPr>
          <a:xfrm>
            <a:off x="311700" y="530680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>
                <a:solidFill>
                  <a:srgbClr val="57068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descr=" " id="41" name="Google Shape;4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" name="Google Shape;43;p13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311700" y="708000"/>
            <a:ext cx="31323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2400"/>
              <a:buNone/>
              <a:defRPr sz="2400">
                <a:solidFill>
                  <a:srgbClr val="57068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311700" y="1542000"/>
            <a:ext cx="3054600" cy="28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47" name="Google Shape;4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" name="Google Shape;49;p14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type="title"/>
          </p:nvPr>
        </p:nvSpPr>
        <p:spPr>
          <a:xfrm>
            <a:off x="1772975" y="528144"/>
            <a:ext cx="5597700" cy="24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5600"/>
              <a:buNone/>
              <a:defRPr sz="5600">
                <a:solidFill>
                  <a:srgbClr val="57068C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descr=" " id="52" name="Google Shape;52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15"/>
          <p:cNvSpPr txBox="1"/>
          <p:nvPr>
            <p:ph idx="1" type="body"/>
          </p:nvPr>
        </p:nvSpPr>
        <p:spPr>
          <a:xfrm>
            <a:off x="2120250" y="2660325"/>
            <a:ext cx="4903500" cy="16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56" name="Google Shape;5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6"/>
          <p:cNvSpPr txBox="1"/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 sz="3600">
                <a:solidFill>
                  <a:srgbClr val="57068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8" name="Google Shape;58;p16"/>
          <p:cNvSpPr txBox="1"/>
          <p:nvPr>
            <p:ph idx="1" type="subTitle"/>
          </p:nvPr>
        </p:nvSpPr>
        <p:spPr>
          <a:xfrm>
            <a:off x="294375" y="2803075"/>
            <a:ext cx="36168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6"/>
          <p:cNvSpPr txBox="1"/>
          <p:nvPr>
            <p:ph idx="2" type="body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descr=" " id="60" name="Google Shape;6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3" name="Google Shape;6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7"/>
          <p:cNvSpPr txBox="1"/>
          <p:nvPr>
            <p:ph type="title"/>
          </p:nvPr>
        </p:nvSpPr>
        <p:spPr>
          <a:xfrm>
            <a:off x="311700" y="3619355"/>
            <a:ext cx="45117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None/>
              <a:defRPr b="0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66" name="Google Shape;66;p17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65" y="0"/>
            <a:ext cx="913607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8"/>
          <p:cNvSpPr txBox="1"/>
          <p:nvPr>
            <p:ph hasCustomPrompt="1" type="title"/>
          </p:nvPr>
        </p:nvSpPr>
        <p:spPr>
          <a:xfrm>
            <a:off x="311700" y="606575"/>
            <a:ext cx="8520600" cy="16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3000"/>
              <a:buNone/>
              <a:defRPr sz="13000">
                <a:solidFill>
                  <a:srgbClr val="57068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3007950" y="3094875"/>
            <a:ext cx="3128100" cy="1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pic>
        <p:nvPicPr>
          <p:cNvPr descr=" " id="71" name="Google Shape;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8"/>
          <p:cNvSpPr txBox="1"/>
          <p:nvPr>
            <p:ph idx="2" type="subTitle"/>
          </p:nvPr>
        </p:nvSpPr>
        <p:spPr>
          <a:xfrm>
            <a:off x="1429500" y="2353776"/>
            <a:ext cx="6285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accent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Text">
  <p:cSld name="CUSTOM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6" name="Google Shape;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9"/>
          <p:cNvSpPr txBox="1"/>
          <p:nvPr>
            <p:ph type="title"/>
          </p:nvPr>
        </p:nvSpPr>
        <p:spPr>
          <a:xfrm>
            <a:off x="4969800" y="1412750"/>
            <a:ext cx="3766800" cy="1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>
                <a:solidFill>
                  <a:srgbClr val="57068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" type="body"/>
          </p:nvPr>
        </p:nvSpPr>
        <p:spPr>
          <a:xfrm>
            <a:off x="4969675" y="2901150"/>
            <a:ext cx="3766800" cy="13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l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81" name="Google Shape;8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0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20"/>
          <p:cNvSpPr txBox="1"/>
          <p:nvPr>
            <p:ph type="title"/>
          </p:nvPr>
        </p:nvSpPr>
        <p:spPr>
          <a:xfrm>
            <a:off x="311700" y="587975"/>
            <a:ext cx="36108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000"/>
              <a:buNone/>
              <a:defRPr sz="4000">
                <a:solidFill>
                  <a:srgbClr val="57068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" type="body"/>
          </p:nvPr>
        </p:nvSpPr>
        <p:spPr>
          <a:xfrm>
            <a:off x="311700" y="1836175"/>
            <a:ext cx="3610800" cy="24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0"/>
          <p:cNvSpPr txBox="1"/>
          <p:nvPr/>
        </p:nvSpPr>
        <p:spPr>
          <a:xfrm>
            <a:off x="5958050" y="683000"/>
            <a:ext cx="27786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20"/>
          <p:cNvSpPr txBox="1"/>
          <p:nvPr>
            <p:ph idx="2" type="body"/>
          </p:nvPr>
        </p:nvSpPr>
        <p:spPr>
          <a:xfrm>
            <a:off x="5824575" y="683050"/>
            <a:ext cx="29118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7" name="Google Shape;87;p20"/>
          <p:cNvSpPr txBox="1"/>
          <p:nvPr>
            <p:ph idx="3" type="body"/>
          </p:nvPr>
        </p:nvSpPr>
        <p:spPr>
          <a:xfrm>
            <a:off x="5824575" y="1931875"/>
            <a:ext cx="29118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8" name="Google Shape;88;p20"/>
          <p:cNvSpPr txBox="1"/>
          <p:nvPr>
            <p:ph idx="4" type="body"/>
          </p:nvPr>
        </p:nvSpPr>
        <p:spPr>
          <a:xfrm>
            <a:off x="5824575" y="3180700"/>
            <a:ext cx="29118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Char char="■"/>
              <a:defRPr sz="1000"/>
            </a:lvl9pPr>
          </a:lstStyle>
          <a:p/>
        </p:txBody>
      </p:sp>
      <p:pic>
        <p:nvPicPr>
          <p:cNvPr id="89" name="Google Shape;89;p20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  <p15:guide id="2" orient="horz" pos="432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2">
    <p:bg>
      <p:bgPr>
        <a:solidFill>
          <a:srgbClr val="22033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2" name="Google Shape;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21"/>
          <p:cNvSpPr txBox="1"/>
          <p:nvPr>
            <p:ph type="title"/>
          </p:nvPr>
        </p:nvSpPr>
        <p:spPr>
          <a:xfrm>
            <a:off x="904850" y="1264532"/>
            <a:ext cx="6710700" cy="15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5" name="Google Shape;95;p21"/>
          <p:cNvSpPr txBox="1"/>
          <p:nvPr>
            <p:ph idx="1" type="subTitle"/>
          </p:nvPr>
        </p:nvSpPr>
        <p:spPr>
          <a:xfrm>
            <a:off x="974919" y="3029082"/>
            <a:ext cx="37152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96" name="Google Shape;9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3">
    <p:bg>
      <p:bgPr>
        <a:solidFill>
          <a:schemeClr val="lt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62802" y="-34225"/>
            <a:ext cx="9269596" cy="5180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9" name="Google Shape;9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22"/>
          <p:cNvSpPr txBox="1"/>
          <p:nvPr>
            <p:ph type="title"/>
          </p:nvPr>
        </p:nvSpPr>
        <p:spPr>
          <a:xfrm>
            <a:off x="592275" y="522825"/>
            <a:ext cx="8144400" cy="37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folio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03" name="Google Shape;10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311700" y="3688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Frank Ruhl Libre"/>
              <a:buNone/>
              <a:defRPr b="1" i="0" sz="3600" u="none" cap="none" strike="noStrike">
                <a:solidFill>
                  <a:srgbClr val="57068C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"/>
          <p:cNvSpPr txBox="1"/>
          <p:nvPr>
            <p:ph type="title"/>
          </p:nvPr>
        </p:nvSpPr>
        <p:spPr>
          <a:xfrm>
            <a:off x="220500" y="1217875"/>
            <a:ext cx="8703000" cy="19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600"/>
              <a:t>From 2D Keypoints to 4D Humans</a:t>
            </a:r>
            <a:endParaRPr sz="36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4600"/>
          </a:p>
        </p:txBody>
      </p:sp>
      <p:sp>
        <p:nvSpPr>
          <p:cNvPr id="111" name="Google Shape;111;p1"/>
          <p:cNvSpPr txBox="1"/>
          <p:nvPr>
            <p:ph idx="1" type="body"/>
          </p:nvPr>
        </p:nvSpPr>
        <p:spPr>
          <a:xfrm>
            <a:off x="2544150" y="4117700"/>
            <a:ext cx="4055700" cy="8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 sz="23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Intro to CV</a:t>
            </a:r>
            <a:endParaRPr b="1" sz="23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CSCI-GA.3033-076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112" name="Google Shape;112;p1"/>
          <p:cNvSpPr txBox="1"/>
          <p:nvPr>
            <p:ph idx="2" type="subTitle"/>
          </p:nvPr>
        </p:nvSpPr>
        <p:spPr>
          <a:xfrm>
            <a:off x="2496300" y="2927773"/>
            <a:ext cx="4151400" cy="14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Yiqiao Liu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Taijia Liang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/>
        </p:nvSpPr>
        <p:spPr>
          <a:xfrm>
            <a:off x="311700" y="469675"/>
            <a:ext cx="84249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330662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Related Work &amp; Methodology</a:t>
            </a:r>
            <a:endParaRPr b="1" i="0" sz="2700" u="none" cap="none" strike="noStrike">
              <a:solidFill>
                <a:srgbClr val="330662"/>
              </a:solidFill>
              <a:latin typeface="Frank Ruhl Libre"/>
              <a:ea typeface="Frank Ruhl Libre"/>
              <a:cs typeface="Frank Ruhl Libre"/>
              <a:sym typeface="Frank Ruhl Libr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/>
        </p:nvSpPr>
        <p:spPr>
          <a:xfrm>
            <a:off x="311700" y="469675"/>
            <a:ext cx="84249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330662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Preliminary Results</a:t>
            </a:r>
            <a:endParaRPr b="1" i="0" sz="2700" u="none" cap="none" strike="noStrike">
              <a:solidFill>
                <a:srgbClr val="330662"/>
              </a:solidFill>
              <a:latin typeface="Frank Ruhl Libre"/>
              <a:ea typeface="Frank Ruhl Libre"/>
              <a:cs typeface="Frank Ruhl Libre"/>
              <a:sym typeface="Frank Ruhl Libr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/>
        </p:nvSpPr>
        <p:spPr>
          <a:xfrm>
            <a:off x="311700" y="469675"/>
            <a:ext cx="84249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330662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Analysis, Limitations &amp; Next Steps</a:t>
            </a:r>
            <a:endParaRPr b="1" i="0" sz="2700" u="none" cap="none" strike="noStrike">
              <a:solidFill>
                <a:srgbClr val="330662"/>
              </a:solidFill>
              <a:latin typeface="Frank Ruhl Libre"/>
              <a:ea typeface="Frank Ruhl Libre"/>
              <a:cs typeface="Frank Ruhl Libre"/>
              <a:sym typeface="Frank Ruhl Libre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310896" y="4736592"/>
            <a:ext cx="777240" cy="256032"/>
          </a:xfrm>
          <a:prstGeom prst="roundRect">
            <a:avLst/>
          </a:prstGeom>
          <a:solidFill>
            <a:srgbClr val="058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Taijia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10896" y="109728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Arial"/>
              </a:rPr>
              <a:t>Three take-aways  ·  three honest limitations  ·  three forward directions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10896" y="150876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330662"/>
                </a:solidFill>
                <a:latin typeface="Arial"/>
              </a:rPr>
              <a:t>Take-aways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10896" y="192024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Arial"/>
              </a:rPr>
              <a:t>•  Pipeline thinking — 2D papers supervise the 3D paper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Arial"/>
              </a:rPr>
              <a:t>•  Single-pass paradigm wins on every metric except absolute accuracy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Arial"/>
              </a:rPr>
              <a:t>•  Adding the time axis is the natural next step, not a new field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145536" y="150876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C0392B"/>
                </a:solidFill>
                <a:latin typeface="Arial"/>
              </a:rPr>
              <a:t>Limitations (today)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145536" y="192024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Arial"/>
              </a:rPr>
              <a:t>•  Per-frame jitter &amp; global scale drift in video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Arial"/>
              </a:rPr>
              <a:t>•  3D ground truth scarce → in-the-wild domains are narrow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Arial"/>
              </a:rPr>
              <a:t>•  Mesh surfaces lack clothing, hair, soft tissue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980176" y="150876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058DC7"/>
                </a:solidFill>
                <a:latin typeface="Arial"/>
              </a:rPr>
              <a:t>What comes next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980176" y="192024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Arial"/>
              </a:rPr>
              <a:t>•  VIBE / SLAHMR — temporal smoothing + global camera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Arial"/>
              </a:rPr>
              <a:t>•  Sapiens (Meta 2024) — human foundation model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Arial"/>
              </a:rPr>
              <a:t>•  3DGS-Avatar — neural / Gaussian surfaces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>
            <p:ph type="title"/>
          </p:nvPr>
        </p:nvSpPr>
        <p:spPr>
          <a:xfrm>
            <a:off x="905100" y="1774207"/>
            <a:ext cx="7333800" cy="15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YU Elegant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3DFE9"/>
      </a:lt2>
      <a:accent1>
        <a:srgbClr val="9A6ABA"/>
      </a:accent1>
      <a:accent2>
        <a:srgbClr val="330662"/>
      </a:accent2>
      <a:accent3>
        <a:srgbClr val="007E8A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