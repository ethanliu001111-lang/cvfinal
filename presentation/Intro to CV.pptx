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dia/media1.mp4" ContentType="video/unknown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ns4="http://customooxmlschemas.google.com/" xmlns:r="http://schemas.openxmlformats.org/officeDocument/2006/relationships" autoCompressPictures="0" embedTrueTypeFonts="1" strictFirstAndLastChars="0" saveSubsetFonts="1">
  <sldMasterIdLst>
    <sldMasterId id="2147483648" r:id="rId4"/>
  </sldMasterIdLst>
  <notesMasterIdLst>
    <notesMasterId r:id="rId5"/>
  </notesMasterIdLst>
  <sldIdLst>
    <sldId id="256" r:id="rId6"/>
    <sldId id="257" r:id="rId7"/>
    <sldId id="261" r:id="rId22"/>
    <sldId id="262" r:id="rId23"/>
    <sldId id="263" r:id="rId24"/>
    <sldId id="264" r:id="rId25"/>
    <sldId id="265" r:id="rId26"/>
    <sldId id="258" r:id="rId8"/>
    <sldId id="266" r:id="rId27"/>
    <sldId id="267" r:id="rId28"/>
    <sldId id="259" r:id="rId9"/>
    <sldId id="260" r:id="rId10"/>
  </sldIdLst>
  <sldSz cy="5143500" cx="9144000"/>
  <notesSz cx="6858000" cy="9144000"/>
  <embeddedFontLst>
    <embeddedFont>
      <font typeface="Montserrat SemiBold"/>
      <regular r:id="rId11"/>
      <bold r:id="rId12"/>
      <italic r:id="rId13"/>
      <boldItalic r:id="rId14"/>
    </embeddedFont>
    <embeddedFont>
      <font typeface="Montserrat"/>
      <regular r:id="rId15"/>
      <bold r:id="rId16"/>
      <italic r:id="rId17"/>
      <boldItalic r:id="rId18"/>
    </embeddedFont>
    <embeddedFont>
      <font typeface="Frank Ruhl Libre"/>
      <regular r:id="rId19"/>
      <bold r:id="rId20"/>
    </embeddedFont>
  </embeddedFontLst>
  <defaultTextStyle>
    <ns2:defPPr lvl="0" marR="0" rtl="0" algn="l">
      <ns2:lnSpc>
        <ns2:spcPct val="100000"/>
      </ns2:lnSpc>
      <ns2:spcBef>
        <ns2:spcPts val="0"/>
      </ns2:spcBef>
      <ns2:spcAft>
        <ns2:spcPts val="0"/>
      </ns2:spcAft>
    </ns2:defPPr>
    <ns2:lvl1pPr lvl="0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lvl="1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lvl="2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lvl="3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lvl="4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lvl="5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lvl="6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lvl="7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lvl="8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9pPr>
  </defaultTextStyle>
  <extLst>
    <ext uri="{EFAFB233-063F-42B5-8137-9DF3F51BA10A}">
      <ns3:sldGuideLst>
        <ns3:guide id="1" orient="horz" pos="1620">
          <ns3:clr>
            <ns2:srgbClr val="747775"/>
          </ns3:clr>
        </ns3:guide>
        <ns3:guide id="2" pos="2880">
          <ns3:clr>
            <ns2:srgbClr val="747775"/>
          </ns3:clr>
        </ns3:guide>
      </ns3:sldGuideLst>
    </ext>
    <ext uri="GoogleSlidesCustomDataVersion2">
      <ns4:slidesCustomData r:id="rId21" roundtripDataSignature="AMtx7mjgSJXgGCfrT8KrtY4LeB3mbr/lkQ=="/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MontserratSemiBold-regular.fntdata"/><Relationship Id="rId12" Type="http://schemas.openxmlformats.org/officeDocument/2006/relationships/font" Target="fonts/MontserratSemiBold-bold.fntdata"/><Relationship Id="rId13" Type="http://schemas.openxmlformats.org/officeDocument/2006/relationships/font" Target="fonts/MontserratSemiBold-italic.fntdata"/><Relationship Id="rId14" Type="http://schemas.openxmlformats.org/officeDocument/2006/relationships/font" Target="fonts/MontserratSemiBold-boldItalic.fntdata"/><Relationship Id="rId15" Type="http://schemas.openxmlformats.org/officeDocument/2006/relationships/font" Target="fonts/Montserrat-regular.fntdata"/><Relationship Id="rId16" Type="http://schemas.openxmlformats.org/officeDocument/2006/relationships/font" Target="fonts/Montserrat-bold.fntdata"/><Relationship Id="rId17" Type="http://schemas.openxmlformats.org/officeDocument/2006/relationships/font" Target="fonts/Montserrat-italic.fntdata"/><Relationship Id="rId18" Type="http://schemas.openxmlformats.org/officeDocument/2006/relationships/font" Target="fonts/Montserrat-boldItalic.fntdata"/><Relationship Id="rId19" Type="http://schemas.openxmlformats.org/officeDocument/2006/relationships/font" Target="fonts/FrankRuhlLibre-regular.fntdata"/><Relationship Id="rId20" Type="http://schemas.openxmlformats.org/officeDocument/2006/relationships/font" Target="fonts/FrankRuhlLibre-bold.fntdata"/><Relationship Id="rId21" Type="http://customschemas.google.com/relationships/presentationmetadata" Target="metadata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Wu et al.</a:t>
            </a:r>
            <a:r>
              <a:rPr lang="en">
                <a:solidFill>
                  <a:schemeClr val="dk1"/>
                </a:solidFill>
              </a:rPr>
              <a:t> show that ML can predict how performance scales across GPU configurations. </a:t>
            </a:r>
            <a:r>
              <a:rPr b="1" lang="en">
                <a:solidFill>
                  <a:schemeClr val="dk1"/>
                </a:solidFill>
              </a:rPr>
              <a:t>Zigon et al.</a:t>
            </a:r>
            <a:r>
              <a:rPr lang="en">
                <a:solidFill>
                  <a:schemeClr val="dk1"/>
                </a:solidFill>
              </a:rPr>
              <a:t> use ML to classify kernels from performance counters. </a:t>
            </a:r>
            <a:r>
              <a:rPr b="1" lang="en">
                <a:solidFill>
                  <a:schemeClr val="dk1"/>
                </a:solidFill>
              </a:rPr>
              <a:t>Liu et al.</a:t>
            </a:r>
            <a:r>
              <a:rPr lang="en">
                <a:solidFill>
                  <a:schemeClr val="dk1"/>
                </a:solidFill>
              </a:rPr>
              <a:t> build regression models that identify the most important GPU hardware features. And </a:t>
            </a:r>
            <a:r>
              <a:rPr b="1" lang="en">
                <a:solidFill>
                  <a:schemeClr val="dk1"/>
                </a:solidFill>
              </a:rPr>
              <a:t>Lee et al.</a:t>
            </a:r>
            <a:r>
              <a:rPr lang="en">
                <a:solidFill>
                  <a:schemeClr val="dk1"/>
                </a:solidFill>
              </a:rPr>
              <a:t> introduce NeuSight, which predicts deep-learning kernel performance on </a:t>
            </a:r>
            <a:r>
              <a:rPr i="1" lang="en">
                <a:solidFill>
                  <a:schemeClr val="dk1"/>
                </a:solidFill>
              </a:rPr>
              <a:t>unseen</a:t>
            </a:r>
            <a:r>
              <a:rPr lang="en">
                <a:solidFill>
                  <a:schemeClr val="dk1"/>
                </a:solidFill>
              </a:rPr>
              <a:t> GPUs by modeling fundamental compute and memory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noticed that few models jointly capture both kernel-level structure and hardware characteristics.  This lack motivates our project.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Wu et al.</a:t>
            </a:r>
            <a:r>
              <a:rPr lang="en">
                <a:solidFill>
                  <a:schemeClr val="dk1"/>
                </a:solidFill>
              </a:rPr>
              <a:t> show that ML can predict how performance scales across GPU configurations. </a:t>
            </a:r>
            <a:r>
              <a:rPr b="1" lang="en">
                <a:solidFill>
                  <a:schemeClr val="dk1"/>
                </a:solidFill>
              </a:rPr>
              <a:t>Zigon et al.</a:t>
            </a:r>
            <a:r>
              <a:rPr lang="en">
                <a:solidFill>
                  <a:schemeClr val="dk1"/>
                </a:solidFill>
              </a:rPr>
              <a:t> use ML to classify kernels from performance counters. </a:t>
            </a:r>
            <a:r>
              <a:rPr b="1" lang="en">
                <a:solidFill>
                  <a:schemeClr val="dk1"/>
                </a:solidFill>
              </a:rPr>
              <a:t>Liu et al.</a:t>
            </a:r>
            <a:r>
              <a:rPr lang="en">
                <a:solidFill>
                  <a:schemeClr val="dk1"/>
                </a:solidFill>
              </a:rPr>
              <a:t> build regression models that identify the most important GPU hardware features. And </a:t>
            </a:r>
            <a:r>
              <a:rPr b="1" lang="en">
                <a:solidFill>
                  <a:schemeClr val="dk1"/>
                </a:solidFill>
              </a:rPr>
              <a:t>Lee et al.</a:t>
            </a:r>
            <a:r>
              <a:rPr lang="en">
                <a:solidFill>
                  <a:schemeClr val="dk1"/>
                </a:solidFill>
              </a:rPr>
              <a:t> introduce NeuSight, which predicts deep-learning kernel performance on </a:t>
            </a:r>
            <a:r>
              <a:rPr i="1" lang="en">
                <a:solidFill>
                  <a:schemeClr val="dk1"/>
                </a:solidFill>
              </a:rPr>
              <a:t>unseen</a:t>
            </a:r>
            <a:r>
              <a:rPr lang="en">
                <a:solidFill>
                  <a:schemeClr val="dk1"/>
                </a:solidFill>
              </a:rPr>
              <a:t> GPUs by modeling fundamental compute and memory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noticed that few models jointly capture both kernel-level structure and hardware characteristics.  This lack motivates our project.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Wu et al.</a:t>
            </a:r>
            <a:r>
              <a:rPr lang="en">
                <a:solidFill>
                  <a:schemeClr val="dk1"/>
                </a:solidFill>
              </a:rPr>
              <a:t> show that ML can predict how performance scales across GPU configurations. </a:t>
            </a:r>
            <a:r>
              <a:rPr b="1" lang="en">
                <a:solidFill>
                  <a:schemeClr val="dk1"/>
                </a:solidFill>
              </a:rPr>
              <a:t>Zigon et al.</a:t>
            </a:r>
            <a:r>
              <a:rPr lang="en">
                <a:solidFill>
                  <a:schemeClr val="dk1"/>
                </a:solidFill>
              </a:rPr>
              <a:t> use ML to classify kernels from performance counters. </a:t>
            </a:r>
            <a:r>
              <a:rPr b="1" lang="en">
                <a:solidFill>
                  <a:schemeClr val="dk1"/>
                </a:solidFill>
              </a:rPr>
              <a:t>Liu et al.</a:t>
            </a:r>
            <a:r>
              <a:rPr lang="en">
                <a:solidFill>
                  <a:schemeClr val="dk1"/>
                </a:solidFill>
              </a:rPr>
              <a:t> build regression models that identify the most important GPU hardware features. And </a:t>
            </a:r>
            <a:r>
              <a:rPr b="1" lang="en">
                <a:solidFill>
                  <a:schemeClr val="dk1"/>
                </a:solidFill>
              </a:rPr>
              <a:t>Lee et al.</a:t>
            </a:r>
            <a:r>
              <a:rPr lang="en">
                <a:solidFill>
                  <a:schemeClr val="dk1"/>
                </a:solidFill>
              </a:rPr>
              <a:t> introduce NeuSight, which predicts deep-learning kernel performance on </a:t>
            </a:r>
            <a:r>
              <a:rPr i="1" lang="en">
                <a:solidFill>
                  <a:schemeClr val="dk1"/>
                </a:solidFill>
              </a:rPr>
              <a:t>unseen</a:t>
            </a:r>
            <a:r>
              <a:rPr lang="en">
                <a:solidFill>
                  <a:schemeClr val="dk1"/>
                </a:solidFill>
              </a:rPr>
              <a:t> GPUs by modeling fundamental compute and memory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noticed that few models jointly capture both kernel-level structure and hardware characteristics.  This lack motivates our project.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16" name="Google Shape;1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0"/>
          <p:cNvPicPr preferRelativeResize="0"/>
          <p:nvPr/>
        </p:nvPicPr>
        <p:blipFill rotWithShape="1">
          <a:blip r:embed="rId2">
            <a:alphaModFix/>
          </a:blip>
          <a:srcRect b="367" l="308" r="328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22" name="Google Shape;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1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12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38" name="Google Shape;38;p12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13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6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8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0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20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20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20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96" name="Google Shape;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i="0" sz="3600" u="none" cap="none" strike="noStrike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title"/>
          </p:nvPr>
        </p:nvSpPr>
        <p:spPr>
          <a:xfrm>
            <a:off x="220500" y="1217875"/>
            <a:ext cx="87030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600"/>
              <a:t>From 2D Keypoints to 4D Humans</a:t>
            </a:r>
            <a:endParaRPr sz="36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4600"/>
          </a:p>
        </p:txBody>
      </p:sp>
      <p:sp>
        <p:nvSpPr>
          <p:cNvPr id="111" name="Google Shape;111;p1"/>
          <p:cNvSpPr txBox="1"/>
          <p:nvPr>
            <p:ph idx="1" type="body"/>
          </p:nvPr>
        </p:nvSpPr>
        <p:spPr>
          <a:xfrm>
            <a:off x="2544150" y="4117700"/>
            <a:ext cx="40557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23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Intro to CV</a:t>
            </a:r>
            <a:endParaRPr b="1" sz="23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CSCI-GA.3033-076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12" name="Google Shape;112;p1"/>
          <p:cNvSpPr txBox="1"/>
          <p:nvPr>
            <p:ph idx="2" type="subTitle"/>
          </p:nvPr>
        </p:nvSpPr>
        <p:spPr>
          <a:xfrm>
            <a:off x="2496300" y="2927773"/>
            <a:ext cx="4151400" cy="14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Yiqiao Liu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Taijia Liang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311700" y="469675"/>
            <a:ext cx="8424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800" u="none" cap="none" strike="noStrike" spc="-20">
                <a:solidFill>
                  <a:srgbClr val="330662"/>
                </a:solidFill>
                <a:latin typeface="Inter Display"/>
                <a:ea typeface="Frank Ruhl Libre"/>
                <a:cs typeface="Frank Ruhl Libre"/>
                <a:sym typeface="Frank Ruhl Libre"/>
              </a:rPr>
              <a:t>Related Work &amp; Methodology</a:t>
            </a:r>
            <a:endParaRPr b="1" i="0" sz="2700" u="none" cap="none" strike="noStrike">
              <a:solidFill>
                <a:srgbClr val="330662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311700" y="469675"/>
            <a:ext cx="8424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800" u="none" cap="none" strike="noStrike" spc="-20">
                <a:solidFill>
                  <a:srgbClr val="330662"/>
                </a:solidFill>
                <a:latin typeface="Inter Display"/>
                <a:ea typeface="Frank Ruhl Libre"/>
                <a:cs typeface="Frank Ruhl Libre"/>
                <a:sym typeface="Frank Ruhl Libre"/>
              </a:rPr>
              <a:t>Preliminary Results</a:t>
            </a:r>
            <a:endParaRPr b="1" i="0" sz="2700" u="none" cap="none" strike="noStrike">
              <a:solidFill>
                <a:srgbClr val="330662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/>
        </p:nvSpPr>
        <p:spPr>
          <a:xfrm>
            <a:off x="311700" y="469675"/>
            <a:ext cx="8424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800" u="none" cap="none" strike="noStrike" spc="-20">
                <a:solidFill>
                  <a:srgbClr val="330662"/>
                </a:solidFill>
                <a:latin typeface="Inter Display"/>
                <a:ea typeface="Frank Ruhl Libre"/>
                <a:cs typeface="Frank Ruhl Libre"/>
                <a:sym typeface="Frank Ruhl Libre"/>
              </a:rPr>
              <a:t>Analysis, Limitations &amp; Next Steps</a:t>
            </a:r>
            <a:endParaRPr b="1" i="0" sz="2700" u="none" cap="none" strike="noStrike">
              <a:solidFill>
                <a:srgbClr val="330662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Taijia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9184" y="10789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 spc="80">
                <a:solidFill>
                  <a:srgbClr val="888888"/>
                </a:solidFill>
                <a:latin typeface="Inter"/>
              </a:rPr>
              <a:t>Three take-aways  ·  three honest limitations  ·  three forward directions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9184" y="1481328"/>
            <a:ext cx="91440" cy="960120"/>
          </a:xfrm>
          <a:prstGeom prst="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2920" y="15179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0662"/>
                </a:solidFill>
                <a:latin typeface="Inter Display"/>
              </a:rPr>
              <a:t>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0120" y="15361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30662"/>
                </a:solidFill>
                <a:latin typeface="Inter"/>
              </a:rPr>
              <a:t>TAKE-AWAYS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2920" y="184708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2D papers supervise the 3D paper.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2920" y="204825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Single-pass paradigm wins everywhere except absolute precision.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224942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Adding the time axis is the natural next step, not a new field.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9184" y="2532888"/>
            <a:ext cx="91440" cy="960120"/>
          </a:xfrm>
          <a:prstGeom prst="rect">
            <a:avLst/>
          </a:prstGeom>
          <a:solidFill>
            <a:srgbClr val="C039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02920" y="25694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60"/>
                </a:solidFill>
                <a:latin typeface="Inter Display"/>
              </a:rPr>
              <a:t>02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0120" y="25877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03960"/>
                </a:solidFill>
                <a:latin typeface="Inter"/>
              </a:rPr>
              <a:t>LIMITATIONS  TODAY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2920" y="289864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Per-frame jitter and global scale drift in video.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2920" y="309981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3D ground truth is scarce — in-the-wild domains are narrow.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2920" y="330098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Mesh surfaces lack clothing, hair, soft tissue.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29184" y="3584448"/>
            <a:ext cx="91440" cy="960120"/>
          </a:xfrm>
          <a:prstGeom prst="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02920" y="36210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8DC7"/>
                </a:solidFill>
                <a:latin typeface="Inter Display"/>
              </a:rPr>
              <a:t>03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60120" y="36393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058DC7"/>
                </a:solidFill>
                <a:latin typeface="Inter"/>
              </a:rPr>
              <a:t>WHAT COMES NEXT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395020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VIBE / SLAHMR  —  temporal smoothing + global camera.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415137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Sapiens  (Meta 2024)  —  human foundation model.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" y="435254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•   3DGS-Avatar  —  neural / Gaussian surfaces.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905100" y="1774207"/>
            <a:ext cx="73338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01  ·  2D POSE ESTIMATION  ·  BOTTOM-UP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OpenPose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Yiqiao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384048"/>
            <a:ext cx="2194560" cy="27432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80">
                <a:solidFill>
                  <a:srgbClr val="330662"/>
                </a:solidFill>
                <a:latin typeface="Inter"/>
              </a:rPr>
              <a:t>Cao et al.  ·  TPAMI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17320"/>
            <a:ext cx="54864" cy="868680"/>
          </a:xfrm>
          <a:prstGeom prst="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5389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0662"/>
                </a:solidFill>
                <a:latin typeface="Inte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7635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Inter Display"/>
              </a:rPr>
              <a:t>Part Affinity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763524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Inter"/>
              </a:rPr>
              <a:t>Per-pixel 2D vectors aligned along each limb's direction — the network outputs PAFs alongside keypoint heatmaps.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" y="2423160"/>
            <a:ext cx="54864" cy="868680"/>
          </a:xfrm>
          <a:prstGeom prst="rect">
            <a:avLst/>
          </a:prstGeom>
          <a:solidFill>
            <a:srgbClr val="6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4597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E4C97"/>
                </a:solidFill>
                <a:latin typeface="Inter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59736"/>
            <a:ext cx="7635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Inter Display"/>
              </a:rPr>
              <a:t>Bottom-up 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763524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Inter"/>
              </a:rPr>
              <a:t>Detect every keypoint first, then bipartite-match to people via PAF scores. No per-person crop.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3429000"/>
            <a:ext cx="54864" cy="868680"/>
          </a:xfrm>
          <a:prstGeom prst="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346557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58DC7"/>
                </a:solidFill>
                <a:latin typeface="Inter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65576"/>
            <a:ext cx="7635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Inter Display"/>
              </a:rPr>
              <a:t>O(1) inference  vs  number of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60"/>
            <a:ext cx="763524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Inter"/>
              </a:rPr>
              <a:t>Real-time multi-person at 22 fps — runtime independent of crowd size.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7316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Inter"/>
              </a:rPr>
              <a:t>Limit:  precision capped by heatmap resolution  →  HRNet attacks this.  HMR consumes the 2D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02  ·  3D BODY RECOVERY  ·  SINGLE-PASS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HMR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Yiqiao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384048"/>
            <a:ext cx="2194560" cy="27432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80">
                <a:solidFill>
                  <a:srgbClr val="330662"/>
                </a:solidFill>
                <a:latin typeface="Inter"/>
              </a:rPr>
              <a:t>Kanazawa et al.  ·  CVPR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417320"/>
            <a:ext cx="8412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 spc="-40">
                <a:solidFill>
                  <a:srgbClr val="330662"/>
                </a:solidFill>
                <a:latin typeface="Inter Display"/>
              </a:rPr>
              <a:t>60 s   →   ~100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21031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 spc="80">
                <a:solidFill>
                  <a:srgbClr val="888888"/>
                </a:solidFill>
                <a:latin typeface="Inter"/>
              </a:rPr>
              <a:t>iterative SMPLify   →   one forward pass   ·   measured on RTX PRO 6000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2670048"/>
            <a:ext cx="2670048" cy="178308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2834640"/>
            <a:ext cx="365760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172968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Inter Display"/>
              </a:rPr>
              <a:t>Single-pass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511296"/>
            <a:ext cx="2395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Image  →  82-d SMPL params  (72 θ + 10 β) +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670048"/>
            <a:ext cx="2670048" cy="178308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2834640"/>
            <a:ext cx="365760" cy="237744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172968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Inter Display"/>
              </a:rPr>
              <a:t>Reprojection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511296"/>
            <a:ext cx="2395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3D joints projected back to 2D, supervised by HRNet/OpenPose-style detections.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6" y="2670048"/>
            <a:ext cx="2670048" cy="178308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1616" y="2834640"/>
            <a:ext cx="365760" cy="237744"/>
          </a:xfrm>
          <a:prstGeom prst="roundRect">
            <a:avLst/>
          </a:prstGeom>
          <a:solidFill>
            <a:srgbClr val="C039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3172968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Inter Display"/>
              </a:rPr>
              <a:t>Adversarial body 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3511296"/>
            <a:ext cx="2395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Discriminator on 4M Mocap poses keeps outputs anatomically plausible.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 spc="80">
                <a:solidFill>
                  <a:srgbClr val="330662"/>
                </a:solidFill>
                <a:latin typeface="Inter"/>
              </a:rPr>
              <a:t>Key insight  —  the 2D papers are not HMR's competitors;  they are its training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03  ·  2D POSE ESTIMATION  ·  TOP-DOWN  ·  HIGH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HRNet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Taijia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384048"/>
            <a:ext cx="2194560" cy="27432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80">
                <a:solidFill>
                  <a:srgbClr val="330662"/>
                </a:solidFill>
                <a:latin typeface="Inter"/>
              </a:rPr>
              <a:t>Sun et al.  ·  CVPR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17320"/>
            <a:ext cx="54864" cy="777240"/>
          </a:xfrm>
          <a:prstGeom prst="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5389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0662"/>
                </a:solidFill>
                <a:latin typeface="Inte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3794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Inter Display"/>
              </a:rPr>
              <a:t>Parallel multi-resolution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379476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Inter"/>
              </a:rPr>
              <a:t>Branches at 4 scales fuse continuously — high-res stream is never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" y="2331720"/>
            <a:ext cx="54864" cy="777240"/>
          </a:xfrm>
          <a:prstGeom prst="rect">
            <a:avLst/>
          </a:prstGeom>
          <a:solidFill>
            <a:srgbClr val="6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36829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E4C97"/>
                </a:solidFill>
                <a:latin typeface="Inter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68296"/>
            <a:ext cx="3794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Inter Display"/>
              </a:rPr>
              <a:t>Top-down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79"/>
            <a:ext cx="379476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Inter"/>
              </a:rPr>
              <a:t>Detector first, then per-person crop  ·  cost grows with #people.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3246120"/>
            <a:ext cx="54864" cy="777240"/>
          </a:xfrm>
          <a:prstGeom prst="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328269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58DC7"/>
                </a:solidFill>
                <a:latin typeface="Inter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82696"/>
            <a:ext cx="3794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Inter Display"/>
              </a:rPr>
              <a:t>Wins on small joints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79"/>
            <a:ext cx="379476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Inter"/>
              </a:rPr>
              <a:t>Crisp wrists / ankles / toes — exactly what HMR's reprojection loss leans on.</a:t>
            </a:r>
          </a:p>
        </p:txBody>
      </p:sp>
      <p:pic>
        <p:nvPicPr>
          <p:cNvPr id="18" name="Picture 17" descr="img2_complex_p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88720"/>
            <a:ext cx="2072640" cy="3108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4920" y="4370832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Our HRNet output  ·  yoga photo  ·  notice the wrist / ankle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Inter"/>
              </a:rPr>
              <a:t>Two complementary endpoints of the 2D paradigm  —  bottom-up speed  vs  top-down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THE BRIDGE  ·  SMPL  +  REPROJECTION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From 2D to 3D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Taijia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" y="1371600"/>
            <a:ext cx="8412480" cy="566928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444752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 spc="80">
                <a:solidFill>
                  <a:srgbClr val="330662"/>
                </a:solidFill>
                <a:latin typeface="Inter Display"/>
              </a:rPr>
              <a:t>SMPL    M ( θ , β )    ·    72-d pose  +  10-d shape    →    6890-vertex 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21408"/>
            <a:ext cx="4114800" cy="502920"/>
          </a:xfrm>
          <a:prstGeom prst="roundRect">
            <a:avLst/>
          </a:prstGeom>
          <a:solidFill>
            <a:srgbClr val="FAF8FD"/>
          </a:solidFill>
          <a:ln w="9525">
            <a:solidFill>
              <a:srgbClr val="058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5798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8DC7"/>
                </a:solidFill>
                <a:latin typeface="Inter Display"/>
              </a:rPr>
              <a:t>OpenPose  +  HRNet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77439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produce 2D keypoints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624328"/>
            <a:ext cx="0" cy="73152"/>
          </a:xfrm>
          <a:prstGeom prst="line">
            <a:avLst/>
          </a:prstGeom>
          <a:ln w="9525">
            <a:solidFill>
              <a:srgbClr val="B8B8B8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2715768"/>
            <a:ext cx="4114800" cy="502920"/>
          </a:xfrm>
          <a:prstGeom prst="roundRect">
            <a:avLst/>
          </a:prstGeom>
          <a:solidFill>
            <a:srgbClr val="FAF8FD"/>
          </a:solidFill>
          <a:ln w="9525">
            <a:solidFill>
              <a:srgbClr val="330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523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30662"/>
                </a:solidFill>
                <a:latin typeface="Inter Display"/>
              </a:rPr>
              <a:t>HMR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97180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predicts 3D joints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3218687"/>
            <a:ext cx="0" cy="73152"/>
          </a:xfrm>
          <a:prstGeom prst="line">
            <a:avLst/>
          </a:prstGeom>
          <a:ln w="9525">
            <a:solidFill>
              <a:srgbClr val="B8B8B8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3310128"/>
            <a:ext cx="4114800" cy="502920"/>
          </a:xfrm>
          <a:prstGeom prst="roundRect">
            <a:avLst/>
          </a:prstGeom>
          <a:solidFill>
            <a:srgbClr val="FAF8FD"/>
          </a:solidFill>
          <a:ln w="9525">
            <a:solidFill>
              <a:srgbClr val="6E4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467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4C97"/>
                </a:solidFill>
                <a:latin typeface="Inter Display"/>
              </a:rPr>
              <a:t>Project back to 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56616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weak-perspective camera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813048"/>
            <a:ext cx="0" cy="73152"/>
          </a:xfrm>
          <a:prstGeom prst="line">
            <a:avLst/>
          </a:prstGeom>
          <a:ln w="9525">
            <a:solidFill>
              <a:srgbClr val="B8B8B8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3904487"/>
            <a:ext cx="4114800" cy="502920"/>
          </a:xfrm>
          <a:prstGeom prst="roundRect">
            <a:avLst/>
          </a:prstGeom>
          <a:solidFill>
            <a:srgbClr val="FAF8FD"/>
          </a:solidFill>
          <a:ln w="9525">
            <a:solidFill>
              <a:srgbClr val="C03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941063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960"/>
                </a:solidFill>
                <a:latin typeface="Inter Display"/>
              </a:rPr>
              <a:t>L2  vs  HRNet 2D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16052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Inter"/>
              </a:rPr>
              <a:t>→  reprojection loss</a:t>
            </a:r>
          </a:p>
        </p:txBody>
      </p:sp>
      <p:pic>
        <p:nvPicPr>
          <p:cNvPr id="22" name="Picture 21" descr="reproj_img1_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57400"/>
            <a:ext cx="1575019" cy="2240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74920" y="433425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Our HMR 3D joints (×) reprojected vs HRNet 2D (○)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548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30662"/>
                </a:solidFill>
                <a:latin typeface="Inter"/>
              </a:rPr>
              <a:t>★  The 2D papers are HMR's training signal — not its competitors.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HMR 2.0  +  PHALP  ·  ADDING THE TIME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From 3D to 4D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Taijia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4206240" cy="0"/>
          </a:xfrm>
          <a:prstGeom prst="line">
            <a:avLst/>
          </a:prstGeom>
          <a:ln w="1905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67512" y="1947672"/>
            <a:ext cx="128016" cy="128016"/>
          </a:xfrm>
          <a:prstGeom prst="ellipse">
            <a:avLst/>
          </a:prstGeom>
          <a:solidFill>
            <a:srgbClr val="330662"/>
          </a:solidFill>
          <a:ln>
            <a:solidFill>
              <a:srgbClr val="330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7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888888"/>
                </a:solidFill>
                <a:latin typeface="Inter"/>
              </a:rP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37159" y="215798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30662"/>
                </a:solidFill>
                <a:latin typeface="Inter Display"/>
              </a:rPr>
              <a:t>HMR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28600" y="248716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single image</a:t>
            </a:r>
          </a:p>
        </p:txBody>
      </p:sp>
      <p:sp>
        <p:nvSpPr>
          <p:cNvPr id="10" name="Oval 9"/>
          <p:cNvSpPr/>
          <p:nvPr/>
        </p:nvSpPr>
        <p:spPr>
          <a:xfrm>
            <a:off x="2770632" y="1947672"/>
            <a:ext cx="128016" cy="128016"/>
          </a:xfrm>
          <a:prstGeom prst="ellipse">
            <a:avLst/>
          </a:prstGeom>
          <a:solidFill>
            <a:srgbClr val="330662"/>
          </a:solidFill>
          <a:ln>
            <a:solidFill>
              <a:srgbClr val="330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5087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888888"/>
                </a:solidFill>
                <a:latin typeface="Inter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15798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30662"/>
                </a:solidFill>
                <a:latin typeface="Inter Display"/>
              </a:rPr>
              <a:t>PHALP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48716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video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4873752" y="1947672"/>
            <a:ext cx="128016" cy="128016"/>
          </a:xfrm>
          <a:prstGeom prst="ellipse">
            <a:avLst/>
          </a:prstGeom>
          <a:solidFill>
            <a:srgbClr val="330662"/>
          </a:solidFill>
          <a:ln>
            <a:solidFill>
              <a:srgbClr val="330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888888"/>
                </a:solidFill>
                <a:latin typeface="Inter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15798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30662"/>
                </a:solidFill>
                <a:latin typeface="Inter Display"/>
              </a:rPr>
              <a:t>HMR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48716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ViT backbone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" y="3291840"/>
            <a:ext cx="5029200" cy="1188720"/>
          </a:xfrm>
          <a:prstGeom prst="roundRect">
            <a:avLst/>
          </a:prstGeom>
          <a:solidFill>
            <a:srgbClr val="FA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 spc="-15">
                <a:solidFill>
                  <a:srgbClr val="330662"/>
                </a:solidFill>
                <a:latin typeface="Inter Display"/>
              </a:rPr>
              <a:t>4D  =  3D  + 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No new mechanism — per-frame HMR 2.0 stitched by PHALP's tracking. Output isn't a video; it's a per-frame SMPL time-series ready for biomechanics.</a:t>
            </a:r>
          </a:p>
        </p:txBody>
      </p:sp>
      <p:pic>
        <p:nvPicPr>
          <p:cNvPr id="21" name="Picture 20" descr="frame_2.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00200"/>
            <a:ext cx="5120640" cy="2880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77840" y="452628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PHALP frame @ 2.0 s  ·  HMR 2.0 mesh on track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LIVE DEMO  ·  4 IN-THE-WILD PHOTOS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Image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Taijia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078992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 spc="80">
                <a:solidFill>
                  <a:srgbClr val="888888"/>
                </a:solidFill>
                <a:latin typeface="Inter"/>
              </a:rPr>
              <a:t>each panel:  input  →  HRNet 2D  →  HMR 2.0 (front)  →  HMR 2.0 (side)   ·   ~100 ms / image</a:t>
            </a:r>
          </a:p>
        </p:txBody>
      </p:sp>
      <p:pic>
        <p:nvPicPr>
          <p:cNvPr id="6" name="Picture 5" descr="quadplot_img1_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08760"/>
            <a:ext cx="2011680" cy="20490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" y="3611880"/>
            <a:ext cx="1792224" cy="256032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904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baseline</a:t>
            </a:r>
          </a:p>
        </p:txBody>
      </p:sp>
      <p:pic>
        <p:nvPicPr>
          <p:cNvPr id="9" name="Picture 8" descr="quadplot_img2_complex_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508760"/>
            <a:ext cx="2011680" cy="204901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96896" y="3611880"/>
            <a:ext cx="1792224" cy="256032"/>
          </a:xfrm>
          <a:prstGeom prst="roundRect">
            <a:avLst/>
          </a:prstGeom>
          <a:solidFill>
            <a:srgbClr val="C039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Yoga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904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prior holds</a:t>
            </a:r>
          </a:p>
        </p:txBody>
      </p:sp>
      <p:pic>
        <p:nvPicPr>
          <p:cNvPr id="12" name="Picture 11" descr="quadplot_img3_occlu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508760"/>
            <a:ext cx="2011680" cy="204901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700016" y="3611880"/>
            <a:ext cx="1792224" cy="256032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Occluded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904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prior fills</a:t>
            </a:r>
          </a:p>
        </p:txBody>
      </p:sp>
      <p:pic>
        <p:nvPicPr>
          <p:cNvPr id="15" name="Picture 14" descr="quadplot_img4_multi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1508760"/>
            <a:ext cx="2011680" cy="186083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803136" y="3611880"/>
            <a:ext cx="1792224" cy="256032"/>
          </a:xfrm>
          <a:prstGeom prst="roundRect">
            <a:avLst/>
          </a:prstGeom>
          <a:solidFill>
            <a:srgbClr val="6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 i="0" spc="80">
                <a:solidFill>
                  <a:srgbClr val="FFFFFF"/>
                </a:solidFill>
                <a:latin typeface="Inter"/>
              </a:rPr>
              <a:t>Multi-person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3904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top-down crop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7316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330662"/>
                </a:solidFill>
                <a:latin typeface="Inter"/>
              </a:rPr>
              <a:t>Same forward pass.  No per-image tuning.  No iteration.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8404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88888"/>
                </a:solidFill>
                <a:latin typeface="Inter"/>
              </a:rPr>
              <a:t>LIVE DEMO  ·  8.6 S TENNIS 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7665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 spc="-15">
                <a:solidFill>
                  <a:srgbClr val="330662"/>
                </a:solidFill>
                <a:latin typeface="Inter Display"/>
              </a:rPr>
              <a:t>Video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4754880"/>
            <a:ext cx="713232" cy="237744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 spc="100">
                <a:solidFill>
                  <a:srgbClr val="FFFFFF"/>
                </a:solidFill>
                <a:latin typeface="Inter"/>
              </a:rPr>
              <a:t>Taijia</a:t>
            </a:r>
          </a:p>
        </p:txBody>
      </p:sp>
      <p:pic>
        <p:nvPicPr>
          <p:cNvPr id="5" name="tennis_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9184" y="1371600"/>
            <a:ext cx="4937760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184" y="422452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Inter"/>
              </a:rPr>
              <a:t>tennis_clip.mp4  ·  5 s loop  ·  double-click in PowerPoint to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371600"/>
            <a:ext cx="3246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spc="-15">
                <a:solidFill>
                  <a:srgbClr val="330662"/>
                </a:solidFill>
                <a:latin typeface="Inter Display"/>
              </a:rPr>
              <a:t>216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830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Inter"/>
              </a:rPr>
              <a:t>every frame  ·  one HMR 2.0 forward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286000"/>
            <a:ext cx="219456" cy="219456"/>
          </a:xfrm>
          <a:prstGeom prst="roundRect">
            <a:avLst/>
          </a:prstGeom>
          <a:solidFill>
            <a:srgbClr val="330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304288"/>
            <a:ext cx="219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22860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Same HMR 2.0 used on each 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852928"/>
            <a:ext cx="219456" cy="219456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8712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Tracking re-IDs the player across motion blur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3419856"/>
            <a:ext cx="219456" cy="219456"/>
          </a:xfrm>
          <a:prstGeom prst="roundRect">
            <a:avLst/>
          </a:prstGeom>
          <a:solidFill>
            <a:srgbClr val="C039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438144"/>
            <a:ext cx="219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4" y="3419856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Inter"/>
              </a:rPr>
              <a:t>Output: structured 3D time-series — biomechanics-ready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7316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330662"/>
                </a:solidFill>
                <a:latin typeface="Inter"/>
              </a:rPr>
              <a:t>The valuable output isn't the video  —  it's the data behind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